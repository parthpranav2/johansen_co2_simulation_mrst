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Arimo Bold" panose="020B0604020202020204" charset="0"/>
      <p:regular r:id="rId4"/>
    </p:embeddedFont>
    <p:embeddedFont>
      <p:font typeface="Canva Sans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-822" y="-12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31.07.2026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65998" y="1202493"/>
            <a:ext cx="13726116" cy="7853648"/>
            <a:chOff x="0" y="0"/>
            <a:chExt cx="18301487" cy="104715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301463" cy="10471531"/>
            </a:xfrm>
            <a:custGeom>
              <a:avLst/>
              <a:gdLst/>
              <a:ahLst/>
              <a:cxnLst/>
              <a:rect l="l" t="t" r="r" b="b"/>
              <a:pathLst>
                <a:path w="18301463" h="10471531">
                  <a:moveTo>
                    <a:pt x="0" y="0"/>
                  </a:moveTo>
                  <a:lnTo>
                    <a:pt x="18301463" y="0"/>
                  </a:lnTo>
                  <a:lnTo>
                    <a:pt x="18301463" y="10471531"/>
                  </a:lnTo>
                  <a:lnTo>
                    <a:pt x="0" y="104715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220" r="-24220"/>
              </a:stretch>
            </a:blipFill>
            <a:ln w="9525" cap="sq">
              <a:solidFill>
                <a:srgbClr val="0D0D0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270160" y="-15240"/>
            <a:ext cx="13717191" cy="1197969"/>
            <a:chOff x="0" y="0"/>
            <a:chExt cx="18289588" cy="15972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89524" cy="1597279"/>
            </a:xfrm>
            <a:custGeom>
              <a:avLst/>
              <a:gdLst/>
              <a:ahLst/>
              <a:cxnLst/>
              <a:rect l="l" t="t" r="r" b="b"/>
              <a:pathLst>
                <a:path w="18289524" h="1597279">
                  <a:moveTo>
                    <a:pt x="0" y="0"/>
                  </a:moveTo>
                  <a:lnTo>
                    <a:pt x="18289524" y="0"/>
                  </a:lnTo>
                  <a:lnTo>
                    <a:pt x="18289524" y="1597279"/>
                  </a:lnTo>
                  <a:lnTo>
                    <a:pt x="0" y="1597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70160" y="9090603"/>
            <a:ext cx="13732431" cy="1188825"/>
            <a:chOff x="0" y="0"/>
            <a:chExt cx="18309908" cy="1585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309844" cy="1585087"/>
            </a:xfrm>
            <a:custGeom>
              <a:avLst/>
              <a:gdLst/>
              <a:ahLst/>
              <a:cxnLst/>
              <a:rect l="l" t="t" r="r" b="b"/>
              <a:pathLst>
                <a:path w="18309844" h="1585087">
                  <a:moveTo>
                    <a:pt x="0" y="0"/>
                  </a:moveTo>
                  <a:lnTo>
                    <a:pt x="18309844" y="0"/>
                  </a:lnTo>
                  <a:lnTo>
                    <a:pt x="18309844" y="1585087"/>
                  </a:lnTo>
                  <a:lnTo>
                    <a:pt x="0" y="1585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5" b="-5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AutoShape 8"/>
          <p:cNvSpPr/>
          <p:nvPr/>
        </p:nvSpPr>
        <p:spPr>
          <a:xfrm>
            <a:off x="5863233" y="1289691"/>
            <a:ext cx="0" cy="7460278"/>
          </a:xfrm>
          <a:prstGeom prst="line">
            <a:avLst/>
          </a:prstGeom>
          <a:ln w="38100" cap="flat">
            <a:solidFill>
              <a:srgbClr val="315199">
                <a:alpha val="49804"/>
              </a:srgbClr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1010873" y="4704177"/>
            <a:ext cx="0" cy="3983879"/>
          </a:xfrm>
          <a:prstGeom prst="line">
            <a:avLst/>
          </a:prstGeom>
          <a:ln w="38100" cap="flat">
            <a:solidFill>
              <a:srgbClr val="315199">
                <a:alpha val="49804"/>
              </a:srgbClr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2501178" y="2702697"/>
            <a:ext cx="2800350" cy="1353915"/>
          </a:xfrm>
          <a:custGeom>
            <a:avLst/>
            <a:gdLst/>
            <a:ahLst/>
            <a:cxnLst/>
            <a:rect l="l" t="t" r="r" b="b"/>
            <a:pathLst>
              <a:path w="2800350" h="1353915">
                <a:moveTo>
                  <a:pt x="0" y="0"/>
                </a:moveTo>
                <a:lnTo>
                  <a:pt x="2800350" y="0"/>
                </a:lnTo>
                <a:lnTo>
                  <a:pt x="2800350" y="1353915"/>
                </a:lnTo>
                <a:lnTo>
                  <a:pt x="0" y="1353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675" r="-1757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501178" y="1303824"/>
            <a:ext cx="2791240" cy="1332198"/>
          </a:xfrm>
          <a:custGeom>
            <a:avLst/>
            <a:gdLst/>
            <a:ahLst/>
            <a:cxnLst/>
            <a:rect l="l" t="t" r="r" b="b"/>
            <a:pathLst>
              <a:path w="2791240" h="1332198">
                <a:moveTo>
                  <a:pt x="0" y="0"/>
                </a:moveTo>
                <a:lnTo>
                  <a:pt x="2791240" y="0"/>
                </a:lnTo>
                <a:lnTo>
                  <a:pt x="2791240" y="1332198"/>
                </a:lnTo>
                <a:lnTo>
                  <a:pt x="0" y="13321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128" r="-18099" b="-2087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3846" y="3675984"/>
            <a:ext cx="3996032" cy="1608711"/>
          </a:xfrm>
          <a:prstGeom prst="rect">
            <a:avLst/>
          </a:prstGeom>
        </p:spPr>
      </p:pic>
      <p:sp>
        <p:nvSpPr>
          <p:cNvPr id="13" name="Freeform 13"/>
          <p:cNvSpPr/>
          <p:nvPr/>
        </p:nvSpPr>
        <p:spPr>
          <a:xfrm>
            <a:off x="2501178" y="5019830"/>
            <a:ext cx="2800350" cy="1271454"/>
          </a:xfrm>
          <a:custGeom>
            <a:avLst/>
            <a:gdLst/>
            <a:ahLst/>
            <a:cxnLst/>
            <a:rect l="l" t="t" r="r" b="b"/>
            <a:pathLst>
              <a:path w="2800350" h="1271454">
                <a:moveTo>
                  <a:pt x="0" y="0"/>
                </a:moveTo>
                <a:lnTo>
                  <a:pt x="2800350" y="0"/>
                </a:lnTo>
                <a:lnTo>
                  <a:pt x="2800350" y="1271454"/>
                </a:lnTo>
                <a:lnTo>
                  <a:pt x="0" y="12714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194" t="-334" r="-17712" b="-670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2501178" y="6456132"/>
            <a:ext cx="2800350" cy="1274162"/>
          </a:xfrm>
          <a:custGeom>
            <a:avLst/>
            <a:gdLst/>
            <a:ahLst/>
            <a:cxnLst/>
            <a:rect l="l" t="t" r="r" b="b"/>
            <a:pathLst>
              <a:path w="2800350" h="1274162">
                <a:moveTo>
                  <a:pt x="0" y="0"/>
                </a:moveTo>
                <a:lnTo>
                  <a:pt x="2800350" y="0"/>
                </a:lnTo>
                <a:lnTo>
                  <a:pt x="2800350" y="1274162"/>
                </a:lnTo>
                <a:lnTo>
                  <a:pt x="0" y="12741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384" t="-526" r="-17948" b="-6648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6996" y="7528028"/>
            <a:ext cx="3981689" cy="1606321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6270984" y="4632514"/>
            <a:ext cx="4416039" cy="4263736"/>
            <a:chOff x="0" y="-28575"/>
            <a:chExt cx="1163072" cy="112295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63072" cy="1039551"/>
            </a:xfrm>
            <a:custGeom>
              <a:avLst/>
              <a:gdLst/>
              <a:ahLst/>
              <a:cxnLst/>
              <a:rect l="l" t="t" r="r" b="b"/>
              <a:pathLst>
                <a:path w="1163072" h="1039551">
                  <a:moveTo>
                    <a:pt x="26297" y="0"/>
                  </a:moveTo>
                  <a:lnTo>
                    <a:pt x="1136775" y="0"/>
                  </a:lnTo>
                  <a:cubicBezTo>
                    <a:pt x="1151298" y="0"/>
                    <a:pt x="1163072" y="11774"/>
                    <a:pt x="1163072" y="26297"/>
                  </a:cubicBezTo>
                  <a:lnTo>
                    <a:pt x="1163072" y="1013254"/>
                  </a:lnTo>
                  <a:cubicBezTo>
                    <a:pt x="1163072" y="1020229"/>
                    <a:pt x="1160301" y="1026918"/>
                    <a:pt x="1155370" y="1031849"/>
                  </a:cubicBezTo>
                  <a:cubicBezTo>
                    <a:pt x="1150438" y="1036781"/>
                    <a:pt x="1143749" y="1039551"/>
                    <a:pt x="1136775" y="1039551"/>
                  </a:cubicBezTo>
                  <a:lnTo>
                    <a:pt x="26297" y="1039551"/>
                  </a:lnTo>
                  <a:cubicBezTo>
                    <a:pt x="19323" y="1039551"/>
                    <a:pt x="12634" y="1036781"/>
                    <a:pt x="7702" y="1031849"/>
                  </a:cubicBezTo>
                  <a:cubicBezTo>
                    <a:pt x="2771" y="1026918"/>
                    <a:pt x="0" y="1020229"/>
                    <a:pt x="0" y="1013254"/>
                  </a:cubicBezTo>
                  <a:lnTo>
                    <a:pt x="0" y="26297"/>
                  </a:lnTo>
                  <a:cubicBezTo>
                    <a:pt x="0" y="19323"/>
                    <a:pt x="2771" y="12634"/>
                    <a:pt x="7702" y="7702"/>
                  </a:cubicBezTo>
                  <a:cubicBezTo>
                    <a:pt x="12634" y="2771"/>
                    <a:pt x="19323" y="0"/>
                    <a:pt x="26297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66675" cap="sq">
              <a:solidFill>
                <a:srgbClr val="FFFF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163072" cy="1122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151130" lvl="1">
                <a:lnSpc>
                  <a:spcPts val="1959"/>
                </a:lnSpc>
              </a:pPr>
              <a:r>
                <a:rPr lang="en-US" sz="1399" dirty="0">
                  <a:solidFill>
                    <a:srgbClr val="000000">
                      <a:alpha val="80000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Before:</a:t>
              </a:r>
            </a:p>
            <a:p>
              <a:pPr marL="436880" lvl="1" indent="-285750">
                <a:lnSpc>
                  <a:spcPts val="1959"/>
                </a:lnSpc>
                <a:buFont typeface="Wingdings" panose="05000000000000000000" pitchFamily="2" charset="2"/>
                <a:buChar char="q"/>
              </a:pPr>
              <a:r>
                <a:rPr lang="en-US" sz="1399" b="1" dirty="0">
                  <a:solidFill>
                    <a:srgbClr val="000000">
                      <a:alpha val="80000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Only one well was injecting @ 1.5Mt/yr (as per Phase - I) with 6 surveillance wells</a:t>
              </a:r>
            </a:p>
            <a:p>
              <a:pPr marL="436880" lvl="1" indent="-285750">
                <a:lnSpc>
                  <a:spcPts val="1959"/>
                </a:lnSpc>
                <a:buFont typeface="Wingdings" panose="05000000000000000000" pitchFamily="2" charset="2"/>
                <a:buChar char="q"/>
              </a:pPr>
              <a:r>
                <a:rPr lang="en-US" sz="1399" b="1" dirty="0">
                  <a:solidFill>
                    <a:srgbClr val="000000">
                      <a:alpha val="80000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Total injection plan 37.5 Mt in 25 yrs.</a:t>
              </a:r>
            </a:p>
            <a:p>
              <a:pPr marL="151130" lvl="1">
                <a:lnSpc>
                  <a:spcPts val="1959"/>
                </a:lnSpc>
              </a:pPr>
              <a:r>
                <a:rPr lang="en-US" sz="1399" b="1" dirty="0">
                  <a:solidFill>
                    <a:srgbClr val="000000">
                      <a:alpha val="80000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Proposition:</a:t>
              </a:r>
            </a:p>
            <a:p>
              <a:pPr marL="436880" lvl="1" indent="-285750">
                <a:lnSpc>
                  <a:spcPts val="1959"/>
                </a:lnSpc>
                <a:buFont typeface="Wingdings" panose="05000000000000000000" pitchFamily="2" charset="2"/>
                <a:buChar char="q"/>
              </a:pPr>
              <a:r>
                <a:rPr lang="en-US" sz="1399" b="1" dirty="0">
                  <a:solidFill>
                    <a:srgbClr val="000000">
                      <a:alpha val="80000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 injector and 2 surveillance, 6.875Mt/yr</a:t>
              </a:r>
            </a:p>
            <a:p>
              <a:pPr marL="436880" lvl="1" indent="-285750">
                <a:lnSpc>
                  <a:spcPts val="1959"/>
                </a:lnSpc>
                <a:buFont typeface="Wingdings" panose="05000000000000000000" pitchFamily="2" charset="2"/>
                <a:buChar char="q"/>
              </a:pPr>
              <a:r>
                <a:rPr lang="en-US" sz="1399" b="1" dirty="0">
                  <a:solidFill>
                    <a:srgbClr val="000000">
                      <a:alpha val="80000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Total injection plan 250 Mt in 50 yrs.</a:t>
              </a:r>
            </a:p>
            <a:p>
              <a:pPr marL="151130" lvl="1">
                <a:lnSpc>
                  <a:spcPts val="1959"/>
                </a:lnSpc>
              </a:pPr>
              <a:r>
                <a:rPr lang="en-US" sz="1399" b="1" dirty="0">
                  <a:solidFill>
                    <a:srgbClr val="000000">
                      <a:alpha val="80000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Constraints:</a:t>
              </a:r>
            </a:p>
            <a:p>
              <a:pPr marL="436880" lvl="1" indent="-285750">
                <a:lnSpc>
                  <a:spcPts val="1959"/>
                </a:lnSpc>
                <a:buFont typeface="Wingdings" panose="05000000000000000000" pitchFamily="2" charset="2"/>
                <a:buChar char="q"/>
              </a:pPr>
              <a:r>
                <a:rPr lang="en-US" sz="1399" b="1" dirty="0">
                  <a:solidFill>
                    <a:srgbClr val="000000">
                      <a:alpha val="80000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Overhead Caprock Fracture Pressure (335 bar)</a:t>
              </a:r>
            </a:p>
            <a:p>
              <a:pPr marL="436880" lvl="1" indent="-285750">
                <a:lnSpc>
                  <a:spcPts val="1959"/>
                </a:lnSpc>
                <a:buFont typeface="Wingdings" panose="05000000000000000000" pitchFamily="2" charset="2"/>
                <a:buChar char="q"/>
              </a:pPr>
              <a:r>
                <a:rPr lang="en-US" sz="1399" b="1" dirty="0">
                  <a:solidFill>
                    <a:srgbClr val="000000">
                      <a:alpha val="80000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Saturation of CO2 should be &lt; 0.15 (critical CO2 saturation) for Johansen, at boundary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334723" y="4630889"/>
            <a:ext cx="4410628" cy="4565021"/>
            <a:chOff x="0" y="-28575"/>
            <a:chExt cx="1144497" cy="11845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44497" cy="1024204"/>
            </a:xfrm>
            <a:custGeom>
              <a:avLst/>
              <a:gdLst/>
              <a:ahLst/>
              <a:cxnLst/>
              <a:rect l="l" t="t" r="r" b="b"/>
              <a:pathLst>
                <a:path w="1144497" h="1024204">
                  <a:moveTo>
                    <a:pt x="26329" y="0"/>
                  </a:moveTo>
                  <a:lnTo>
                    <a:pt x="1118168" y="0"/>
                  </a:lnTo>
                  <a:cubicBezTo>
                    <a:pt x="1132709" y="0"/>
                    <a:pt x="1144497" y="11788"/>
                    <a:pt x="1144497" y="26329"/>
                  </a:cubicBezTo>
                  <a:lnTo>
                    <a:pt x="1144497" y="997875"/>
                  </a:lnTo>
                  <a:cubicBezTo>
                    <a:pt x="1144497" y="1012416"/>
                    <a:pt x="1132709" y="1024204"/>
                    <a:pt x="1118168" y="1024204"/>
                  </a:cubicBezTo>
                  <a:lnTo>
                    <a:pt x="26329" y="1024204"/>
                  </a:lnTo>
                  <a:cubicBezTo>
                    <a:pt x="19346" y="1024204"/>
                    <a:pt x="12649" y="1021430"/>
                    <a:pt x="7712" y="1016493"/>
                  </a:cubicBezTo>
                  <a:cubicBezTo>
                    <a:pt x="2774" y="1011555"/>
                    <a:pt x="0" y="1004858"/>
                    <a:pt x="0" y="997875"/>
                  </a:cubicBezTo>
                  <a:lnTo>
                    <a:pt x="0" y="26329"/>
                  </a:lnTo>
                  <a:cubicBezTo>
                    <a:pt x="0" y="11788"/>
                    <a:pt x="11788" y="0"/>
                    <a:pt x="26329" y="0"/>
                  </a:cubicBezTo>
                  <a:close/>
                </a:path>
              </a:pathLst>
            </a:custGeom>
            <a:solidFill>
              <a:srgbClr val="FFFFFF">
                <a:alpha val="82745"/>
              </a:srgbClr>
            </a:solidFill>
            <a:ln w="66675" cap="sq">
              <a:solidFill>
                <a:srgbClr val="FFFFFF">
                  <a:alpha val="8274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1144497" cy="1184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285750" indent="-285750">
                <a:lnSpc>
                  <a:spcPts val="1959"/>
                </a:lnSpc>
                <a:buFont typeface="Wingdings" panose="05000000000000000000" pitchFamily="2" charset="2"/>
                <a:buChar char="q"/>
              </a:pPr>
              <a:r>
                <a:rPr lang="en-US" sz="1399" b="1" dirty="0">
                  <a:solidFill>
                    <a:srgbClr val="000000">
                      <a:alpha val="82745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Boundary surveillance data directly gates the next injection proposal — monitoring becomes decision-making.</a:t>
              </a:r>
            </a:p>
            <a:p>
              <a:pPr marL="285750" indent="-285750">
                <a:lnSpc>
                  <a:spcPts val="1959"/>
                </a:lnSpc>
                <a:buFont typeface="Wingdings" panose="05000000000000000000" pitchFamily="2" charset="2"/>
                <a:buChar char="q"/>
              </a:pPr>
              <a:r>
                <a:rPr lang="en-US" sz="1399" b="1" dirty="0">
                  <a:solidFill>
                    <a:srgbClr val="000000">
                      <a:alpha val="82745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Containment failure ,pressure breach are </a:t>
              </a:r>
              <a:r>
                <a:rPr lang="en-US" sz="1399" b="1" dirty="0" err="1">
                  <a:solidFill>
                    <a:srgbClr val="000000">
                      <a:alpha val="82745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penalised</a:t>
              </a:r>
              <a:r>
                <a:rPr lang="en-US" sz="1399" b="1" dirty="0">
                  <a:solidFill>
                    <a:srgbClr val="000000">
                      <a:alpha val="82745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, encoding geophysical irreversibility into the reward function.</a:t>
              </a:r>
            </a:p>
            <a:p>
              <a:pPr marL="285750" indent="-285750">
                <a:lnSpc>
                  <a:spcPts val="1959"/>
                </a:lnSpc>
                <a:buFont typeface="Wingdings" panose="05000000000000000000" pitchFamily="2" charset="2"/>
                <a:buChar char="q"/>
              </a:pPr>
              <a:r>
                <a:rPr lang="en-US" sz="1399" b="1" dirty="0">
                  <a:solidFill>
                    <a:srgbClr val="000000">
                      <a:alpha val="82745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Two boundary sentinels on opposing plume pathways ensure no unsafe strategy escapes constraint detection.</a:t>
              </a:r>
            </a:p>
            <a:p>
              <a:pPr marL="285750" indent="-285750">
                <a:lnSpc>
                  <a:spcPts val="1959"/>
                </a:lnSpc>
                <a:buFont typeface="Wingdings" panose="05000000000000000000" pitchFamily="2" charset="2"/>
                <a:buChar char="q"/>
              </a:pPr>
              <a:r>
                <a:rPr lang="en-US" sz="1399" b="1" dirty="0">
                  <a:solidFill>
                    <a:srgbClr val="000000">
                      <a:alpha val="82745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Staggered inter-cluster injection timing emerges as an </a:t>
              </a:r>
              <a:r>
                <a:rPr lang="en-US" sz="1399" b="1" dirty="0" err="1">
                  <a:solidFill>
                    <a:srgbClr val="000000">
                      <a:alpha val="82745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optimised</a:t>
              </a:r>
              <a:r>
                <a:rPr lang="en-US" sz="1399" b="1" dirty="0">
                  <a:solidFill>
                    <a:srgbClr val="000000">
                      <a:alpha val="82745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pressure management strategy — never prescribed, always discovered.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9685925" y="1342263"/>
            <a:ext cx="6059426" cy="3223226"/>
          </a:xfrm>
          <a:custGeom>
            <a:avLst/>
            <a:gdLst/>
            <a:ahLst/>
            <a:cxnLst/>
            <a:rect l="l" t="t" r="r" b="b"/>
            <a:pathLst>
              <a:path w="6059426" h="3223226">
                <a:moveTo>
                  <a:pt x="0" y="0"/>
                </a:moveTo>
                <a:lnTo>
                  <a:pt x="6059426" y="0"/>
                </a:lnTo>
                <a:lnTo>
                  <a:pt x="6059426" y="3223226"/>
                </a:lnTo>
                <a:lnTo>
                  <a:pt x="0" y="322322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580" r="-1627" b="-377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6015633" y="1342263"/>
            <a:ext cx="3593730" cy="3138077"/>
          </a:xfrm>
          <a:custGeom>
            <a:avLst/>
            <a:gdLst/>
            <a:ahLst/>
            <a:cxnLst/>
            <a:rect l="l" t="t" r="r" b="b"/>
            <a:pathLst>
              <a:path w="3593730" h="3138077">
                <a:moveTo>
                  <a:pt x="0" y="0"/>
                </a:moveTo>
                <a:lnTo>
                  <a:pt x="3593730" y="0"/>
                </a:lnTo>
                <a:lnTo>
                  <a:pt x="3593730" y="3138077"/>
                </a:lnTo>
                <a:lnTo>
                  <a:pt x="0" y="313807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474" r="-147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6477312" y="4742744"/>
            <a:ext cx="4009686" cy="461117"/>
            <a:chOff x="0" y="-28575"/>
            <a:chExt cx="1056049" cy="121447"/>
          </a:xfrm>
        </p:grpSpPr>
        <p:sp>
          <p:nvSpPr>
            <p:cNvPr id="25" name="Freeform 25"/>
            <p:cNvSpPr/>
            <p:nvPr/>
          </p:nvSpPr>
          <p:spPr>
            <a:xfrm>
              <a:off x="0" y="-13275"/>
              <a:ext cx="1056049" cy="92872"/>
            </a:xfrm>
            <a:custGeom>
              <a:avLst/>
              <a:gdLst/>
              <a:ahLst/>
              <a:cxnLst/>
              <a:rect l="l" t="t" r="r" b="b"/>
              <a:pathLst>
                <a:path w="1056049" h="92872">
                  <a:moveTo>
                    <a:pt x="46436" y="0"/>
                  </a:moveTo>
                  <a:lnTo>
                    <a:pt x="1009613" y="0"/>
                  </a:lnTo>
                  <a:cubicBezTo>
                    <a:pt x="1035259" y="0"/>
                    <a:pt x="1056049" y="20790"/>
                    <a:pt x="1056049" y="46436"/>
                  </a:cubicBezTo>
                  <a:lnTo>
                    <a:pt x="1056049" y="46436"/>
                  </a:lnTo>
                  <a:cubicBezTo>
                    <a:pt x="1056049" y="58751"/>
                    <a:pt x="1051157" y="70562"/>
                    <a:pt x="1042448" y="79271"/>
                  </a:cubicBezTo>
                  <a:cubicBezTo>
                    <a:pt x="1033740" y="87979"/>
                    <a:pt x="1021929" y="92872"/>
                    <a:pt x="1009613" y="92872"/>
                  </a:cubicBezTo>
                  <a:lnTo>
                    <a:pt x="46436" y="92872"/>
                  </a:lnTo>
                  <a:cubicBezTo>
                    <a:pt x="34120" y="92872"/>
                    <a:pt x="22309" y="87979"/>
                    <a:pt x="13601" y="79271"/>
                  </a:cubicBezTo>
                  <a:cubicBezTo>
                    <a:pt x="4892" y="70562"/>
                    <a:pt x="0" y="58751"/>
                    <a:pt x="0" y="46436"/>
                  </a:cubicBezTo>
                  <a:lnTo>
                    <a:pt x="0" y="46436"/>
                  </a:lnTo>
                  <a:cubicBezTo>
                    <a:pt x="0" y="34120"/>
                    <a:pt x="4892" y="22309"/>
                    <a:pt x="13601" y="13601"/>
                  </a:cubicBezTo>
                  <a:cubicBezTo>
                    <a:pt x="22309" y="4892"/>
                    <a:pt x="34120" y="0"/>
                    <a:pt x="46436" y="0"/>
                  </a:cubicBezTo>
                  <a:close/>
                </a:path>
              </a:pathLst>
            </a:custGeom>
            <a:solidFill>
              <a:srgbClr val="31519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1056049" cy="121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r>
                <a:rPr lang="en-US" sz="1400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SIMULATION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4804091" y="102936"/>
            <a:ext cx="7911547" cy="9342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Application of Reservoir and Production Surveillance for Optimized Reservoir Management in Conventional or Unconventional Fields</a:t>
            </a:r>
          </a:p>
          <a:p>
            <a:pPr algn="ctr">
              <a:lnSpc>
                <a:spcPts val="2520"/>
              </a:lnSpc>
            </a:pPr>
            <a:r>
              <a:rPr lang="en-US" sz="16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(Johansen Field Injection </a:t>
            </a:r>
            <a:r>
              <a:rPr lang="en-US" sz="1600" b="1" dirty="0" err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Optimisation</a:t>
            </a:r>
            <a:r>
              <a:rPr lang="en-US" sz="16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376849" y="9265915"/>
            <a:ext cx="8721142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CAEEFB"/>
                </a:solidFill>
                <a:latin typeface="Arimo Bold"/>
                <a:ea typeface="Arimo Bold"/>
                <a:cs typeface="Arimo Bold"/>
                <a:sym typeface="Arimo Bold"/>
              </a:rPr>
              <a:t>Author 1 Name: Parth Shroff (24JE1030)</a:t>
            </a: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CAEEFB"/>
                </a:solidFill>
                <a:latin typeface="Arimo Bold"/>
                <a:ea typeface="Arimo Bold"/>
                <a:cs typeface="Arimo Bold"/>
                <a:sym typeface="Arimo Bold"/>
              </a:rPr>
              <a:t>Author 2 Name: Jai Oza (24JE1010)</a:t>
            </a: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CAEEFB"/>
                </a:solidFill>
                <a:latin typeface="Arimo Bold"/>
                <a:ea typeface="Arimo Bold"/>
                <a:cs typeface="Arimo Bold"/>
                <a:sym typeface="Arimo Bold"/>
              </a:rPr>
              <a:t>Discipline and Year (Pre-final or Final): B.Tech Petroleum Engineering, Pre-final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1538709" y="4704960"/>
            <a:ext cx="4002656" cy="493803"/>
            <a:chOff x="0" y="-28575"/>
            <a:chExt cx="1054198" cy="130055"/>
          </a:xfrm>
        </p:grpSpPr>
        <p:sp>
          <p:nvSpPr>
            <p:cNvPr id="30" name="Freeform 30"/>
            <p:cNvSpPr/>
            <p:nvPr/>
          </p:nvSpPr>
          <p:spPr>
            <a:xfrm>
              <a:off x="0" y="-9136"/>
              <a:ext cx="1054198" cy="101480"/>
            </a:xfrm>
            <a:custGeom>
              <a:avLst/>
              <a:gdLst/>
              <a:ahLst/>
              <a:cxnLst/>
              <a:rect l="l" t="t" r="r" b="b"/>
              <a:pathLst>
                <a:path w="1054198" h="101480">
                  <a:moveTo>
                    <a:pt x="50740" y="0"/>
                  </a:moveTo>
                  <a:lnTo>
                    <a:pt x="1003458" y="0"/>
                  </a:lnTo>
                  <a:cubicBezTo>
                    <a:pt x="1016915" y="0"/>
                    <a:pt x="1029821" y="5346"/>
                    <a:pt x="1039336" y="14861"/>
                  </a:cubicBezTo>
                  <a:cubicBezTo>
                    <a:pt x="1048852" y="24377"/>
                    <a:pt x="1054198" y="37283"/>
                    <a:pt x="1054198" y="50740"/>
                  </a:cubicBezTo>
                  <a:lnTo>
                    <a:pt x="1054198" y="50740"/>
                  </a:lnTo>
                  <a:cubicBezTo>
                    <a:pt x="1054198" y="78763"/>
                    <a:pt x="1031480" y="101480"/>
                    <a:pt x="1003458" y="101480"/>
                  </a:cubicBezTo>
                  <a:lnTo>
                    <a:pt x="50740" y="101480"/>
                  </a:lnTo>
                  <a:cubicBezTo>
                    <a:pt x="37283" y="101480"/>
                    <a:pt x="24377" y="96134"/>
                    <a:pt x="14861" y="86619"/>
                  </a:cubicBezTo>
                  <a:cubicBezTo>
                    <a:pt x="5346" y="77103"/>
                    <a:pt x="0" y="64197"/>
                    <a:pt x="0" y="50740"/>
                  </a:cubicBezTo>
                  <a:lnTo>
                    <a:pt x="0" y="50740"/>
                  </a:lnTo>
                  <a:cubicBezTo>
                    <a:pt x="0" y="37283"/>
                    <a:pt x="5346" y="24377"/>
                    <a:pt x="14861" y="14861"/>
                  </a:cubicBezTo>
                  <a:cubicBezTo>
                    <a:pt x="24377" y="5346"/>
                    <a:pt x="37283" y="0"/>
                    <a:pt x="50740" y="0"/>
                  </a:cubicBezTo>
                  <a:close/>
                </a:path>
              </a:pathLst>
            </a:custGeom>
            <a:solidFill>
              <a:srgbClr val="315199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1054198" cy="130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OPTIMISATION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200</Words>
  <Application>Microsoft Office PowerPoint</Application>
  <PresentationFormat>Custom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Arimo Bold</vt:lpstr>
      <vt:lpstr>Canva Sans Bold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Template_ExxonMobil Day_IIT ISM Dhanbad_10Aug2026.pptx</dc:title>
  <dc:creator>Jai Oza</dc:creator>
  <cp:lastModifiedBy>Jai Oza</cp:lastModifiedBy>
  <cp:revision>2</cp:revision>
  <dcterms:created xsi:type="dcterms:W3CDTF">2006-08-16T00:00:00Z</dcterms:created>
  <dcterms:modified xsi:type="dcterms:W3CDTF">2026-07-31T12:28:33Z</dcterms:modified>
  <dc:identifier>DAHQ2G6uqTg</dc:identifier>
</cp:coreProperties>
</file>